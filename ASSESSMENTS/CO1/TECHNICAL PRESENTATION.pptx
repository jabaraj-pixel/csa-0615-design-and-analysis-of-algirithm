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9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C380-CE34-2909-5ED0-972F4F183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690356-4C6A-3B6D-6A18-DA365B464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CC36F-0C38-36E9-388B-6FF893BA8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0DDB-EB3A-4C18-882C-507E8B839948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859D-EC5D-2D6B-9B44-D51803D31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199F9-3518-4177-FD9D-7DFE440C2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F83F-DCCE-42A4-87C7-2C0E8FEFF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472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77E66-6A67-C6A6-84FF-988919C1B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94A60-8D34-74DC-FC1F-BF97A48F8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EE3B-83F1-BD97-40CE-BB517A09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0DDB-EB3A-4C18-882C-507E8B839948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1E679-0BCE-2F6B-491D-9A2067CFC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B712A-8566-1373-A25D-D0F14032E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F83F-DCCE-42A4-87C7-2C0E8FEFF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68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D51B8-EAD8-7380-19C1-612E29895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91F0F-0101-AA72-3886-F83C6C015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FDDA7-E2CD-CB39-CE13-4B0EA614E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0DDB-EB3A-4C18-882C-507E8B839948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CEE4E-F127-6EBE-2424-3552D448D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16A2C-D3D7-297D-4093-267AA83D3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F83F-DCCE-42A4-87C7-2C0E8FEFF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424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CB11F-E7CE-FF0F-72EA-6294DC84C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70B20-1886-B3B7-3A5F-1FB29D1B6D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5FB78B-E680-06E6-8C24-F3BC43E422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A7DFD-2AD7-E623-1A18-341B492D5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0DDB-EB3A-4C18-882C-507E8B839948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332DF-6040-83CD-3107-C11947635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A9052-7581-B063-4136-294C73C1A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F83F-DCCE-42A4-87C7-2C0E8FEFF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2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E3F84-2CD9-E2A8-686D-61A51206B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AFD32-F0DC-49A6-0E36-D4FCE6CB8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9D576-7B6F-1722-4584-B718AF16D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400DB2-8FDB-C519-6469-0D4CF23DF7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05D023-3EAC-8231-A0D6-078A81B2B9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321211-06A7-BE5F-3169-4AECE99E5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0DDB-EB3A-4C18-882C-507E8B839948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3A825-725E-1A60-027F-1E2905592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1241F-6C62-6D8D-AFB9-B55DF0279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F83F-DCCE-42A4-87C7-2C0E8FEFF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61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8C1BC-00EB-7899-E156-6F782F97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CED866-0464-6DF2-A830-297826C15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0DDB-EB3A-4C18-882C-507E8B839948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EAACC7-FEB8-5074-891D-7EC06A7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259AA8-83CE-F6B5-31F6-0FF796828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F83F-DCCE-42A4-87C7-2C0E8FEFF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059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FB536C-721D-E29C-7B3F-3EBBFAC71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0DDB-EB3A-4C18-882C-507E8B839948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44B4CF-4779-892C-D3D6-B269DE2EE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60619-2E09-DD67-3BD7-2E77096E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F83F-DCCE-42A4-87C7-2C0E8FEFF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952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DBC3C-8A4D-843F-688F-AD7185CD3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D5ABC-76B7-CCA3-79E6-17B1C5F8C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4217D2-A545-AD57-ABFA-D6183EB5C9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AC516-A4AA-7DF0-0B14-15094FAFE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0DDB-EB3A-4C18-882C-507E8B839948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084A3-9A19-FC25-D459-AD5CB5A6D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5DADC-A00E-825F-B842-6C580D3F5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F83F-DCCE-42A4-87C7-2C0E8FEFF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209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D3CEC-745D-C9E3-8AB4-205CD14B4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A06D02-031B-0D74-6CBA-19A081B792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E0AC3-C649-5B9C-3C18-270830C50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1D131-F0D3-8873-CBFF-2BA167E7E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0DDB-EB3A-4C18-882C-507E8B839948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A7981-70F3-B5D1-77BA-1D9A5BE23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78790-8902-970D-1E3F-E1E3951FF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F83F-DCCE-42A4-87C7-2C0E8FEFF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248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C8980-61BA-71BA-1848-45890BA18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6BFC3B-9112-CB68-2F25-3C35BA39F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2856F-9A8E-BD7F-0629-55A6F45B7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0DDB-EB3A-4C18-882C-507E8B839948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FF7A5-641A-0E05-6365-E81AD79B1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80AC9-5821-D176-AC90-78DEEB477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F83F-DCCE-42A4-87C7-2C0E8FEFF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649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2AEA63-7F42-1777-B10E-1006BD845B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68923-DB3F-B96E-9D8E-274DA84BE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62D8-6413-FABB-C08C-475C60386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0DDB-EB3A-4C18-882C-507E8B839948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91204-1776-EF5E-06A3-14C13DCF3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06353-2672-EDF2-576A-A8806AD9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F83F-DCCE-42A4-87C7-2C0E8FEFF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609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E4988A-48A0-B27C-B2E7-D592EDFB7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2AD6E-7463-348A-4BDF-9EA199948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236B0-CFAE-AA38-EC57-B9E4A916DE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460DDB-EB3A-4C18-882C-507E8B839948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B51CE-B781-10F4-D4D4-F52E57286D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3E514-2DFA-B22C-F16F-0BF17EF323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FEF83F-DCCE-42A4-87C7-2C0E8FEFF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35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63540D-B5F4-B8E9-F6AB-A1255507317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85627" y="235974"/>
            <a:ext cx="10048125" cy="12683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3F7857-F6D0-2327-6097-A3D196FF2F64}"/>
              </a:ext>
            </a:extLst>
          </p:cNvPr>
          <p:cNvSpPr txBox="1"/>
          <p:nvPr/>
        </p:nvSpPr>
        <p:spPr>
          <a:xfrm>
            <a:off x="668593" y="4689988"/>
            <a:ext cx="26981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DR. NAGARAJAN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DF051-A27A-BA9A-8895-FECD4703FA29}"/>
              </a:ext>
            </a:extLst>
          </p:cNvPr>
          <p:cNvSpPr txBox="1"/>
          <p:nvPr/>
        </p:nvSpPr>
        <p:spPr>
          <a:xfrm>
            <a:off x="8356271" y="4689988"/>
            <a:ext cx="339156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BY: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JABARAJ T (192511187)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80360A-9290-23F2-4230-76CDC5EBDCED}"/>
              </a:ext>
            </a:extLst>
          </p:cNvPr>
          <p:cNvSpPr txBox="1"/>
          <p:nvPr/>
        </p:nvSpPr>
        <p:spPr>
          <a:xfrm>
            <a:off x="814246" y="1751617"/>
            <a:ext cx="1056350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Visualization-Based Technical Presentation on Growth Functions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FE7B10-AD6F-6156-89BC-7B3E11F2FF60}"/>
              </a:ext>
            </a:extLst>
          </p:cNvPr>
          <p:cNvSpPr txBox="1"/>
          <p:nvPr/>
        </p:nvSpPr>
        <p:spPr>
          <a:xfrm>
            <a:off x="2260655" y="3295696"/>
            <a:ext cx="7932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CSA0615 – DESIGN AND ANALYSIS OF ALGORITHMS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254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FCC8A3-78BE-4545-063D-4DC15EBCF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33" y="148489"/>
            <a:ext cx="726968" cy="88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E0FA72-9946-748D-3289-88987D03B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2523" y="60937"/>
            <a:ext cx="1522997" cy="88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C7D058-3951-D1AB-5DD1-2119AE9C69F9}"/>
              </a:ext>
            </a:extLst>
          </p:cNvPr>
          <p:cNvSpPr txBox="1"/>
          <p:nvPr/>
        </p:nvSpPr>
        <p:spPr>
          <a:xfrm>
            <a:off x="3951823" y="674700"/>
            <a:ext cx="42883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1E87D1-6437-4917-3F96-6B1747816B17}"/>
              </a:ext>
            </a:extLst>
          </p:cNvPr>
          <p:cNvSpPr txBox="1"/>
          <p:nvPr/>
        </p:nvSpPr>
        <p:spPr>
          <a:xfrm>
            <a:off x="601717" y="2078229"/>
            <a:ext cx="10867912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Algorithm?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algorithm is a finite sequence of steps used to solve a computational problem.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input size (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increases, algorithms require different amounts of execution time.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algorithms independently of hardware, we use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Asymptotic Analysis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algorithm efficiency.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growth functions.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performance.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best algorithm for large datasets.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082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7DD969-167A-6BB8-0470-135CA5B5D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33" y="148489"/>
            <a:ext cx="726968" cy="88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46E75A-FB93-B9EC-B047-476255113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2523" y="60937"/>
            <a:ext cx="1522997" cy="88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A0EE3F-26A5-037C-14C3-ED1327BE5348}"/>
              </a:ext>
            </a:extLst>
          </p:cNvPr>
          <p:cNvSpPr txBox="1"/>
          <p:nvPr/>
        </p:nvSpPr>
        <p:spPr>
          <a:xfrm>
            <a:off x="3073794" y="504700"/>
            <a:ext cx="60444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AA3870-47F0-4B31-6CF2-7C13CB4DE1ED}"/>
              </a:ext>
            </a:extLst>
          </p:cNvPr>
          <p:cNvSpPr txBox="1"/>
          <p:nvPr/>
        </p:nvSpPr>
        <p:spPr>
          <a:xfrm>
            <a:off x="965201" y="1728925"/>
            <a:ext cx="10544938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algorithms solve the same problem but consume different execution times.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algorithm performs better when input size becomes very large?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compare: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O(log n)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 log n)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O(n²)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O(2ⁿ)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mathematical and graphical analysis.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859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93142B-8B76-1FEE-FFB9-3ED5C9408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33" y="148489"/>
            <a:ext cx="726968" cy="88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883D0F-1BD9-5AF1-7A6E-3C30B520A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2523" y="60937"/>
            <a:ext cx="1522997" cy="88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B7EE3C-56B1-424E-88DC-C35BD0E8C2A2}"/>
              </a:ext>
            </a:extLst>
          </p:cNvPr>
          <p:cNvSpPr txBox="1"/>
          <p:nvPr/>
        </p:nvSpPr>
        <p:spPr>
          <a:xfrm>
            <a:off x="3218449" y="674700"/>
            <a:ext cx="5755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FUNCTIONS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E34EF6-C899-6519-3D90-3D830DAA20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60729"/>
              </p:ext>
            </p:extLst>
          </p:nvPr>
        </p:nvGraphicFramePr>
        <p:xfrm>
          <a:off x="838200" y="2579549"/>
          <a:ext cx="10515600" cy="274320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2315342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390432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86909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Growth Function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Name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Efficiency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9323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O(log n)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Logarithmic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Excellent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307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O(n)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Linear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Very Good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9422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O(n log n)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Linearithmic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Good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2961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O(n²)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Quadratic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Poor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465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O(2ⁿ)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Exponential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Very Poor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714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6983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F9B675-1452-271B-1E6D-B38BCA332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33" y="148489"/>
            <a:ext cx="726968" cy="88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7427A4-6471-0656-F203-2358F8A8E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2523" y="60937"/>
            <a:ext cx="1522997" cy="88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E338A8-6D60-004A-722F-986605BC6B33}"/>
              </a:ext>
            </a:extLst>
          </p:cNvPr>
          <p:cNvSpPr txBox="1"/>
          <p:nvPr/>
        </p:nvSpPr>
        <p:spPr>
          <a:xfrm>
            <a:off x="2022544" y="613145"/>
            <a:ext cx="81469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COMPARISON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906C95-7E32-90D3-FB6A-C605C89629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67222"/>
              </p:ext>
            </p:extLst>
          </p:nvPr>
        </p:nvGraphicFramePr>
        <p:xfrm>
          <a:off x="838199" y="1970809"/>
          <a:ext cx="10515600" cy="356616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53439476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15405662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0536713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23526256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71154028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099944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log₂n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 log₂n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1074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0553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6030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364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4289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65,536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755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4,294,967,296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887004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C1A48AD-B283-5527-2D1B-6BDA3AAFA93D}"/>
              </a:ext>
            </a:extLst>
          </p:cNvPr>
          <p:cNvSpPr txBox="1"/>
          <p:nvPr/>
        </p:nvSpPr>
        <p:spPr>
          <a:xfrm>
            <a:off x="2262713" y="5767801"/>
            <a:ext cx="7245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Exponential growth becomes impractical very quickly.</a:t>
            </a:r>
          </a:p>
        </p:txBody>
      </p:sp>
    </p:spTree>
    <p:extLst>
      <p:ext uri="{BB962C8B-B14F-4D97-AF65-F5344CB8AC3E}">
        <p14:creationId xmlns:p14="http://schemas.microsoft.com/office/powerpoint/2010/main" val="2978269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E2CF5C-2D1E-9735-67B1-69E6ACFAB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33" y="148489"/>
            <a:ext cx="726968" cy="88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49A4FFE-C54D-940C-11F7-C3FF34AA8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2523" y="60937"/>
            <a:ext cx="1522997" cy="88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A15327-1742-C4C9-536D-94CD439E3E0F}"/>
              </a:ext>
            </a:extLst>
          </p:cNvPr>
          <p:cNvSpPr txBox="1"/>
          <p:nvPr/>
        </p:nvSpPr>
        <p:spPr>
          <a:xfrm>
            <a:off x="5077932" y="585581"/>
            <a:ext cx="20361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C759A-E147-F095-F6A8-F50AD859D940}"/>
              </a:ext>
            </a:extLst>
          </p:cNvPr>
          <p:cNvSpPr txBox="1"/>
          <p:nvPr/>
        </p:nvSpPr>
        <p:spPr>
          <a:xfrm>
            <a:off x="8043125" y="1811012"/>
            <a:ext cx="340454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Logarithmic grows very slowly.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increases steadily.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Linearithmic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grows slightly faster.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Quadratic rises rapidly.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Exponential shoots almost vertically.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F0B18F-432C-4484-6D63-36B096D751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17" y="1558291"/>
            <a:ext cx="6937514" cy="462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950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84695F-FD77-98DF-1CA4-4875BAF00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33" y="148489"/>
            <a:ext cx="726968" cy="88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50517C-AEE1-1A7D-FA82-21F8B1422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2523" y="60937"/>
            <a:ext cx="1522997" cy="88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CE1C5E-3EFF-EF9A-BCB5-476D62BAA960}"/>
              </a:ext>
            </a:extLst>
          </p:cNvPr>
          <p:cNvSpPr txBox="1"/>
          <p:nvPr/>
        </p:nvSpPr>
        <p:spPr>
          <a:xfrm>
            <a:off x="3006564" y="504700"/>
            <a:ext cx="61788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EXAMPLES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1D03AE-D2DC-AAA2-5514-451DA6C82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543641"/>
              </p:ext>
            </p:extLst>
          </p:nvPr>
        </p:nvGraphicFramePr>
        <p:xfrm>
          <a:off x="1044678" y="2628711"/>
          <a:ext cx="10515600" cy="274320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92313395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015780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Algorithm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543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641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550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 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Merge Sort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5791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Bubble Sort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350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O(2ⁿ)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Recursive Fibonacci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676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0008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D4E18F-C2F4-1488-1D56-A87336EE8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33" y="148489"/>
            <a:ext cx="726968" cy="88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DCAEBB3-1B6F-AEA8-4D16-76E1379B8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2523" y="60937"/>
            <a:ext cx="1522997" cy="88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8677DF-3049-4273-306D-72FCDDB312ED}"/>
              </a:ext>
            </a:extLst>
          </p:cNvPr>
          <p:cNvSpPr txBox="1"/>
          <p:nvPr/>
        </p:nvSpPr>
        <p:spPr>
          <a:xfrm>
            <a:off x="2586055" y="594521"/>
            <a:ext cx="66856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23F71-08A4-8CCC-9C3F-127134B271A3}"/>
              </a:ext>
            </a:extLst>
          </p:cNvPr>
          <p:cNvSpPr txBox="1"/>
          <p:nvPr/>
        </p:nvSpPr>
        <p:spPr>
          <a:xfrm>
            <a:off x="2032431" y="1507692"/>
            <a:ext cx="620829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O(log 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 huge datasets 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 log 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sorting algorithms 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O(n²)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Acceptable only for small inputs 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O(2ⁿ)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Extremely slow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only for special problems</a:t>
            </a:r>
          </a:p>
        </p:txBody>
      </p:sp>
    </p:spTree>
    <p:extLst>
      <p:ext uri="{BB962C8B-B14F-4D97-AF65-F5344CB8AC3E}">
        <p14:creationId xmlns:p14="http://schemas.microsoft.com/office/powerpoint/2010/main" val="2943217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739347-2C94-277C-294B-6AAFF7E3A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33" y="148489"/>
            <a:ext cx="726968" cy="88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28A8C0-26FA-35BE-AD1E-E71A7D6A6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2523" y="60937"/>
            <a:ext cx="1522997" cy="88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F53B67-4A32-6DE3-ACEF-D98F207B4B9F}"/>
              </a:ext>
            </a:extLst>
          </p:cNvPr>
          <p:cNvSpPr txBox="1"/>
          <p:nvPr/>
        </p:nvSpPr>
        <p:spPr>
          <a:xfrm>
            <a:off x="2918250" y="594521"/>
            <a:ext cx="66095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SELECTION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2D55CC-A301-1B6F-AC29-C9128F5E4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160590"/>
              </p:ext>
            </p:extLst>
          </p:nvPr>
        </p:nvGraphicFramePr>
        <p:xfrm>
          <a:off x="965201" y="2752597"/>
          <a:ext cx="10515600" cy="228600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4185120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901700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Recommended 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3633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O(n²) acceptable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2948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 log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7874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O(log n) or 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150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O(log n) preferred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0161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372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2DC151-86E0-E45F-4343-F614D6F93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33" y="148489"/>
            <a:ext cx="726968" cy="88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9941AE-5434-2025-415A-F1163F4BB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2523" y="60937"/>
            <a:ext cx="1522997" cy="88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83B574-E836-CE36-F066-DE4122951F22}"/>
              </a:ext>
            </a:extLst>
          </p:cNvPr>
          <p:cNvSpPr txBox="1"/>
          <p:nvPr/>
        </p:nvSpPr>
        <p:spPr>
          <a:xfrm>
            <a:off x="4265210" y="674700"/>
            <a:ext cx="36615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8F9538-DBF6-2A9C-E982-5C9800BB0916}"/>
              </a:ext>
            </a:extLst>
          </p:cNvPr>
          <p:cNvSpPr txBox="1"/>
          <p:nvPr/>
        </p:nvSpPr>
        <p:spPr>
          <a:xfrm>
            <a:off x="2042264" y="2220703"/>
            <a:ext cx="620829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functions determine algorithm efficiency.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Lower-order growth performs better.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O(log n) is the most scalable.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 log n) is ideal for sorting.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O(2ⁿ) should be avoided for large inputs.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correct algorithm significantly improves performance. </a:t>
            </a:r>
          </a:p>
        </p:txBody>
      </p:sp>
    </p:spTree>
    <p:extLst>
      <p:ext uri="{BB962C8B-B14F-4D97-AF65-F5344CB8AC3E}">
        <p14:creationId xmlns:p14="http://schemas.microsoft.com/office/powerpoint/2010/main" val="3961629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A5734-7F89-FB96-453B-24D4C1B82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822D95-A8AD-307D-957A-B66D1079E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33" y="148489"/>
            <a:ext cx="726968" cy="88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2D1E82-6681-7E7F-83CD-4409D208A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2523" y="60937"/>
            <a:ext cx="1522997" cy="88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B490D1-0324-1AA1-BD2A-50D0E023A81B}"/>
              </a:ext>
            </a:extLst>
          </p:cNvPr>
          <p:cNvSpPr txBox="1"/>
          <p:nvPr/>
        </p:nvSpPr>
        <p:spPr>
          <a:xfrm>
            <a:off x="4085481" y="588566"/>
            <a:ext cx="40210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EAFAE0-57F3-CF5E-8213-142F996EFB15}"/>
              </a:ext>
            </a:extLst>
          </p:cNvPr>
          <p:cNvSpPr txBox="1"/>
          <p:nvPr/>
        </p:nvSpPr>
        <p:spPr>
          <a:xfrm>
            <a:off x="2219244" y="1963369"/>
            <a:ext cx="620829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function analysis is used in: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 </a:t>
            </a:r>
          </a:p>
        </p:txBody>
      </p:sp>
    </p:spTree>
    <p:extLst>
      <p:ext uri="{BB962C8B-B14F-4D97-AF65-F5344CB8AC3E}">
        <p14:creationId xmlns:p14="http://schemas.microsoft.com/office/powerpoint/2010/main" val="4183762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D0FD6-4C8A-4A46-980C-F9B6B3A40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714616-F17C-CCFE-507D-49BC7A048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33" y="148489"/>
            <a:ext cx="726968" cy="88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CE8CE8-D252-CBD7-25C3-096198DED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2523" y="60937"/>
            <a:ext cx="1522997" cy="88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CEB50A-B7D1-4D71-2865-540C0534F632}"/>
              </a:ext>
            </a:extLst>
          </p:cNvPr>
          <p:cNvSpPr txBox="1"/>
          <p:nvPr/>
        </p:nvSpPr>
        <p:spPr>
          <a:xfrm>
            <a:off x="4281240" y="594521"/>
            <a:ext cx="36295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714F51-2A62-6911-5962-8FEA07422102}"/>
              </a:ext>
            </a:extLst>
          </p:cNvPr>
          <p:cNvSpPr txBox="1"/>
          <p:nvPr/>
        </p:nvSpPr>
        <p:spPr>
          <a:xfrm>
            <a:off x="1462160" y="2526352"/>
            <a:ext cx="756385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Thomas H.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4th Edition, MIT Press, 2022.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Donald E. Knuth,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Art of Computer Programming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Steven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Skiena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Design Manual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Michael T. Goodrich,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Algorithms in Python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NPTEL – Design and Analysis of Algorithms.</a:t>
            </a:r>
          </a:p>
        </p:txBody>
      </p:sp>
    </p:spTree>
    <p:extLst>
      <p:ext uri="{BB962C8B-B14F-4D97-AF65-F5344CB8AC3E}">
        <p14:creationId xmlns:p14="http://schemas.microsoft.com/office/powerpoint/2010/main" val="471978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9EF4A4-9FA2-ED1C-DA2F-88CFC6B8C598}"/>
              </a:ext>
            </a:extLst>
          </p:cNvPr>
          <p:cNvSpPr txBox="1"/>
          <p:nvPr/>
        </p:nvSpPr>
        <p:spPr>
          <a:xfrm>
            <a:off x="3421710" y="2875002"/>
            <a:ext cx="534858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60027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546</Words>
  <Application>Microsoft Office PowerPoint</Application>
  <PresentationFormat>Widescreen</PresentationFormat>
  <Paragraphs>166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Jabaraj ✨💫</dc:creator>
  <cp:lastModifiedBy>Sarukesh A</cp:lastModifiedBy>
  <cp:revision>6</cp:revision>
  <dcterms:created xsi:type="dcterms:W3CDTF">2026-06-30T12:55:52Z</dcterms:created>
  <dcterms:modified xsi:type="dcterms:W3CDTF">2026-07-20T05:10:50Z</dcterms:modified>
</cp:coreProperties>
</file>